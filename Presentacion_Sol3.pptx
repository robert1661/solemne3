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1" r:id="rId11"/>
    <p:sldId id="27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731"/>
    <a:srgbClr val="106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89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A4731">
              <a:alpha val="65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560320" cy="2560320"/>
          </a:xfrm>
          <a:prstGeom prst="ellipse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40916C">
              <a:alpha val="5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SOLEMNE 3  ·  LÓGICA DIFUSA 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Test of the
</a:t>
            </a:r>
            <a:r>
              <a:rPr lang="en-US" sz="4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Composter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Sensors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767328"/>
            <a:ext cx="5029200" cy="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58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Elalami et al.  ·  IEEE 2019  ·  Hassan 1 University, Marruecos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Gutiérrez  ·  Cristóbal Valenzuela  ·  Vicente Apaza  ·  Benjamín Muñoz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Andrés Bello  ·  2026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348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548640" cy="107899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orgánicos en países en desarrollo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98448"/>
            <a:ext cx="548640" cy="10789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Compostador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Tambor rotatorio, mecánica y sensores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05456"/>
            <a:ext cx="548640" cy="107899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797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25968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IoT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358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PLC, telegestión 4G y arquitectura cloud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05456"/>
            <a:ext cx="548640" cy="1078992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797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25968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Difusa — FIS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0358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membresías y 10 reglas IF-THEN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712464"/>
            <a:ext cx="548640" cy="1078992"/>
          </a:xfrm>
          <a:prstGeom prst="rect">
            <a:avLst/>
          </a:prstGeom>
          <a:solidFill>
            <a:srgbClr val="354F52"/>
          </a:solidFill>
          <a:ln w="12700">
            <a:solidFill>
              <a:srgbClr val="354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86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51560" y="3803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MIMO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242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 de control y simulación 7 días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71246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12464"/>
            <a:ext cx="548640" cy="10789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86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486400" y="3803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242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desafíos y trabajo futuro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38912" y="960120"/>
            <a:ext cx="1920240" cy="12344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1033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" y="1709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orgánica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residuos urbanos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15184" y="960120"/>
            <a:ext cx="19202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15184" y="1033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15184" y="1709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posible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compostaje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1456" y="960120"/>
            <a:ext cx="1920240" cy="12344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91456" y="1033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91456" y="1709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obtener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 maduro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67728" y="960120"/>
            <a:ext cx="1920240" cy="123444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28" y="1033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km²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67728" y="1709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transporte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832104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77440"/>
            <a:ext cx="64008" cy="24505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505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identificada en el paper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2880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vertederos son el método dominante en Marruecos y países en desarrollo por su bajo costo.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2552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 orgánica sin tratar genera biogás (CO₂ y metano), principales causantes del calentamiento global.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3630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lixiviados contaminan las napas freáticas comprometiendo el suministro de agua potable.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40050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compostaje transforma residuos en fertilizante orgánico reciclando minerales N, P y K para agricultura.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43799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requiere control preciso de temperatura, humedad, pH, aireación y amoniaco (NH₃).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Compostador Rotatorio</a:t>
            </a:r>
            <a:endParaRPr lang="en-US" sz="3400" dirty="0"/>
          </a:p>
        </p:txBody>
      </p:sp>
      <p:graphicFrame>
        <p:nvGraphicFramePr>
          <p:cNvPr id="59" name="Table 0">
            <a:extLst>
              <a:ext uri="{FF2B5EF4-FFF2-40B4-BE49-F238E27FC236}">
                <a16:creationId xmlns:a16="http://schemas.microsoft.com/office/drawing/2014/main" id="{89C9F2C0-84A2-4A1D-8C72-66076E15D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41065"/>
              </p:ext>
            </p:extLst>
          </p:nvPr>
        </p:nvGraphicFramePr>
        <p:xfrm>
          <a:off x="411480" y="932688"/>
          <a:ext cx="4663440" cy="385877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60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60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del tambor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 m³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 × Diámetro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× 900 mm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Espesor (acero inox.)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mm  —  Re = 172 MPa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rotación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4 tr/min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eléctrico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tr/min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 del tambor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kg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 residuos org.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 kg  (2/3 del volumen)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mensual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kWh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8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compostaje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6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semanas</a:t>
                      </a:r>
                      <a:endParaRPr lang="en-US" sz="1050" dirty="0">
                        <a:solidFill>
                          <a:srgbClr val="10602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0" name="Shape 1">
            <a:extLst>
              <a:ext uri="{FF2B5EF4-FFF2-40B4-BE49-F238E27FC236}">
                <a16:creationId xmlns:a16="http://schemas.microsoft.com/office/drawing/2014/main" id="{1A446DC8-54E7-44E0-BE46-1531AE64B764}"/>
              </a:ext>
            </a:extLst>
          </p:cNvPr>
          <p:cNvSpPr/>
          <p:nvPr/>
        </p:nvSpPr>
        <p:spPr>
          <a:xfrm>
            <a:off x="5230368" y="932690"/>
            <a:ext cx="3502152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29A05FF4-3A1A-403C-9E8D-35A5E5532FCE}"/>
              </a:ext>
            </a:extLst>
          </p:cNvPr>
          <p:cNvSpPr/>
          <p:nvPr/>
        </p:nvSpPr>
        <p:spPr>
          <a:xfrm>
            <a:off x="5321808" y="98755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6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200" b="1" dirty="0">
                <a:solidFill>
                  <a:srgbClr val="1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06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200" dirty="0">
              <a:solidFill>
                <a:srgbClr val="106025"/>
              </a:solidFill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70EFE9E8-5A8D-41BF-8347-2351B9C2A057}"/>
              </a:ext>
            </a:extLst>
          </p:cNvPr>
          <p:cNvSpPr/>
          <p:nvPr/>
        </p:nvSpPr>
        <p:spPr>
          <a:xfrm>
            <a:off x="5340096" y="15361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D40F0269-BCDE-4BF2-92C9-B68D72D4238B}"/>
              </a:ext>
            </a:extLst>
          </p:cNvPr>
          <p:cNvSpPr/>
          <p:nvPr/>
        </p:nvSpPr>
        <p:spPr>
          <a:xfrm>
            <a:off x="5577840" y="14447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Tambor rotatorio</a:t>
            </a:r>
            <a:endParaRPr lang="en-US" sz="1050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12241920-CB3D-488C-8546-1C9F3B7B8ABF}"/>
              </a:ext>
            </a:extLst>
          </p:cNvPr>
          <p:cNvSpPr/>
          <p:nvPr/>
        </p:nvSpPr>
        <p:spPr>
          <a:xfrm>
            <a:off x="5577840" y="16733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 inox. — cámara hermética + 2 puertas laterales</a:t>
            </a:r>
            <a:endParaRPr lang="en-US" sz="950" dirty="0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49E0BB17-01D1-4509-A6D3-21C4CB074242}"/>
              </a:ext>
            </a:extLst>
          </p:cNvPr>
          <p:cNvSpPr/>
          <p:nvPr/>
        </p:nvSpPr>
        <p:spPr>
          <a:xfrm>
            <a:off x="5340096" y="19933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585D553D-C35E-49B8-A034-6152DEFABBC5}"/>
              </a:ext>
            </a:extLst>
          </p:cNvPr>
          <p:cNvSpPr/>
          <p:nvPr/>
        </p:nvSpPr>
        <p:spPr>
          <a:xfrm>
            <a:off x="5577840" y="19019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+ reductor</a:t>
            </a:r>
            <a:endParaRPr lang="en-US" sz="1050" dirty="0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5DA64589-85BC-4C5C-A099-BACF57C12B55}"/>
              </a:ext>
            </a:extLst>
          </p:cNvPr>
          <p:cNvSpPr/>
          <p:nvPr/>
        </p:nvSpPr>
        <p:spPr>
          <a:xfrm>
            <a:off x="5577840" y="21305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Engranajes helicoidales η₁=0.95, correa-polea η₂=0.95</a:t>
            </a:r>
            <a:endParaRPr lang="en-US" sz="950" dirty="0"/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9A9F0DCB-FA22-4DF1-B0B7-913C2C30966C}"/>
              </a:ext>
            </a:extLst>
          </p:cNvPr>
          <p:cNvSpPr/>
          <p:nvPr/>
        </p:nvSpPr>
        <p:spPr>
          <a:xfrm>
            <a:off x="5340096" y="24505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2F24AEB2-04D0-486B-A0EF-EDFD91B5D30C}"/>
              </a:ext>
            </a:extLst>
          </p:cNvPr>
          <p:cNvSpPr/>
          <p:nvPr/>
        </p:nvSpPr>
        <p:spPr>
          <a:xfrm>
            <a:off x="5577840" y="23591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Ventilador centríf.</a:t>
            </a:r>
            <a:endParaRPr lang="en-US" sz="105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00A0A45D-B4FD-450E-A356-083282053143}"/>
              </a:ext>
            </a:extLst>
          </p:cNvPr>
          <p:cNvSpPr/>
          <p:nvPr/>
        </p:nvSpPr>
        <p:spPr>
          <a:xfrm>
            <a:off x="5577840" y="25877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Aireación activa — flujo variable por perforaciones</a:t>
            </a:r>
            <a:endParaRPr lang="en-US" sz="950" dirty="0"/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D07D9457-8BA6-4D1E-A0F5-4249D34246BB}"/>
              </a:ext>
            </a:extLst>
          </p:cNvPr>
          <p:cNvSpPr/>
          <p:nvPr/>
        </p:nvSpPr>
        <p:spPr>
          <a:xfrm>
            <a:off x="5340096" y="29077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1A4C9D7F-2E2A-4922-BEE6-B8614FC85037}"/>
              </a:ext>
            </a:extLst>
          </p:cNvPr>
          <p:cNvSpPr/>
          <p:nvPr/>
        </p:nvSpPr>
        <p:spPr>
          <a:xfrm>
            <a:off x="5577840" y="28163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de sensores</a:t>
            </a:r>
            <a:endParaRPr lang="en-US" sz="105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572D2EDC-79C6-4108-819C-AF30720A8EC6}"/>
              </a:ext>
            </a:extLst>
          </p:cNvPr>
          <p:cNvSpPr/>
          <p:nvPr/>
        </p:nvSpPr>
        <p:spPr>
          <a:xfrm>
            <a:off x="5577840" y="30449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T°, H%, NH₃, pH y O₂ montados en tubo fijo exterior</a:t>
            </a:r>
            <a:endParaRPr lang="en-US" sz="950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3A2C56EB-873D-4D48-BAF5-87924E1A0BCE}"/>
              </a:ext>
            </a:extLst>
          </p:cNvPr>
          <p:cNvSpPr/>
          <p:nvPr/>
        </p:nvSpPr>
        <p:spPr>
          <a:xfrm>
            <a:off x="5340096" y="33649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D50FE597-7F09-462E-A523-6129C77CD808}"/>
              </a:ext>
            </a:extLst>
          </p:cNvPr>
          <p:cNvSpPr/>
          <p:nvPr/>
        </p:nvSpPr>
        <p:spPr>
          <a:xfrm>
            <a:off x="5577840" y="32735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módulo 4G</a:t>
            </a:r>
            <a:endParaRPr lang="en-US" sz="105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1EF5E9F5-E930-442D-A714-B138B72BEF51}"/>
              </a:ext>
            </a:extLst>
          </p:cNvPr>
          <p:cNvSpPr/>
          <p:nvPr/>
        </p:nvSpPr>
        <p:spPr>
          <a:xfrm>
            <a:off x="5577840" y="35021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Telegestión IoT en tiempo real — app + cloud</a:t>
            </a:r>
            <a:endParaRPr lang="en-US" sz="950" dirty="0"/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9605A15C-AF74-4EAD-B2A5-5A5980263C05}"/>
              </a:ext>
            </a:extLst>
          </p:cNvPr>
          <p:cNvSpPr/>
          <p:nvPr/>
        </p:nvSpPr>
        <p:spPr>
          <a:xfrm>
            <a:off x="5340096" y="38221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33FD0706-F612-4566-89D5-6D004503036C}"/>
              </a:ext>
            </a:extLst>
          </p:cNvPr>
          <p:cNvSpPr/>
          <p:nvPr/>
        </p:nvSpPr>
        <p:spPr>
          <a:xfrm>
            <a:off x="5577840" y="37307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calef.</a:t>
            </a:r>
            <a:endParaRPr lang="en-US" sz="1050" dirty="0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CEA72B58-E934-4254-A487-3B53B0E34086}"/>
              </a:ext>
            </a:extLst>
          </p:cNvPr>
          <p:cNvSpPr/>
          <p:nvPr/>
        </p:nvSpPr>
        <p:spPr>
          <a:xfrm>
            <a:off x="5577840" y="39593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si T &lt; 20°C según regla R03 del paper</a:t>
            </a:r>
            <a:endParaRPr lang="en-US" sz="950" dirty="0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5FC21EF2-9B2A-40EF-BE9A-1625B0EED455}"/>
              </a:ext>
            </a:extLst>
          </p:cNvPr>
          <p:cNvSpPr/>
          <p:nvPr/>
        </p:nvSpPr>
        <p:spPr>
          <a:xfrm>
            <a:off x="5340096" y="4279392"/>
            <a:ext cx="164592" cy="164592"/>
          </a:xfrm>
          <a:prstGeom prst="ellipse">
            <a:avLst/>
          </a:prstGeom>
          <a:solidFill>
            <a:srgbClr val="106025"/>
          </a:solidFill>
          <a:ln w="12700">
            <a:solidFill>
              <a:srgbClr val="106025"/>
            </a:solidFill>
            <a:prstDash val="solid"/>
          </a:ln>
        </p:spPr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DBA2FEE5-0631-48D4-BB7A-F256FE2E660B}"/>
              </a:ext>
            </a:extLst>
          </p:cNvPr>
          <p:cNvSpPr/>
          <p:nvPr/>
        </p:nvSpPr>
        <p:spPr>
          <a:xfrm>
            <a:off x="5577840" y="41879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Inyector de agua</a:t>
            </a:r>
            <a:endParaRPr lang="en-US" sz="105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AA4112C2-AEA8-4B0D-BB52-95B38BC8351F}"/>
              </a:ext>
            </a:extLst>
          </p:cNvPr>
          <p:cNvSpPr/>
          <p:nvPr/>
        </p:nvSpPr>
        <p:spPr>
          <a:xfrm>
            <a:off x="5577840" y="441655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si H &lt; 40% (comando manual — regla R01)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Remoto — IoT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621792"/>
          </a:xfrm>
          <a:prstGeom prst="rect">
            <a:avLst/>
          </a:prstGeom>
          <a:solidFill>
            <a:srgbClr val="EDF6F0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14400"/>
            <a:ext cx="64008" cy="62179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 (Sensores):  Temperatura  •  Humedad  •  NH₃  •  pH  •  Oxígeno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 (Actuadores):  Motor de Rotación  •  Ventilador  •  Resistencia Calefactora  •  Inyector de Agua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783080" cy="9601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47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(MCU)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Hum · NH₃ · pH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78308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947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difusa local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783080" cy="9601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947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4G/WiFi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TCP/IP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1783080" cy="96012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947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IoT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2359152"/>
            <a:ext cx="22860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359152"/>
            <a:ext cx="22860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359152"/>
            <a:ext cx="22860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3580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Smartphone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 (curvas + valores)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822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ON/OFF del sistema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151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y automático seleccionables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4480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tiempos de rotación y espera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4809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por umbral de sensor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035808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493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4G + WiFi redundante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822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en nube con IP asignada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28032" y="41513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simultáneo PC, tablet y móvil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480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muestreo configurable por sensor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4809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histórico exportable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Difuso — FIS Mamdani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420624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32688"/>
            <a:ext cx="64008" cy="391363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886200" cy="960120"/>
          </a:xfrm>
          <a:prstGeom prst="rect">
            <a:avLst/>
          </a:prstGeom>
          <a:solidFill>
            <a:srgbClr val="EDF6F0"/>
          </a:solidFill>
          <a:ln w="12700">
            <a:solidFill>
              <a:srgbClr val="C8DD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 [°C]  [0 – 80]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Conjuntos: BAJA (&lt;20)  |  MEDIA (20–65)  |  ALTA (&gt;65)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112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trapmf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496312"/>
            <a:ext cx="3886200" cy="960120"/>
          </a:xfrm>
          <a:prstGeom prst="rect">
            <a:avLst/>
          </a:prstGeom>
          <a:solidFill>
            <a:srgbClr val="EDF6F0"/>
          </a:solidFill>
          <a:ln w="12700">
            <a:solidFill>
              <a:srgbClr val="C8DD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 [%]  [0 – 100]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Conjuntos: BAJA (&lt;40)  |  MEDIA (40–60)  |  ALTA (&gt;60)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trapmf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3575304"/>
            <a:ext cx="3886200" cy="960120"/>
          </a:xfrm>
          <a:prstGeom prst="rect">
            <a:avLst/>
          </a:prstGeom>
          <a:solidFill>
            <a:srgbClr val="EDF6F0"/>
          </a:solidFill>
          <a:ln w="12700">
            <a:solidFill>
              <a:srgbClr val="C8DD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21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(Amoniaco)  [ppm]  [0 – 40]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07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Conjuntos: BAJO (&lt;10)  |  MEDIO (10–20)  |  ALTO (&gt;20)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4270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trapmf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57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212080" y="932688"/>
            <a:ext cx="352044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932688"/>
            <a:ext cx="64008" cy="39136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67528" y="1417320"/>
            <a:ext cx="3200400" cy="1097280"/>
          </a:xfrm>
          <a:prstGeom prst="rect">
            <a:avLst/>
          </a:prstGeom>
          <a:solidFill>
            <a:srgbClr val="EDF6F0"/>
          </a:solidFill>
          <a:ln w="12700">
            <a:solidFill>
              <a:srgbClr val="C8DD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Rotación  [0 – 1]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8968" y="1892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Conjuntos: APAGADO  |  LENTO  |  RÁPIDO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58968" y="2221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trimf  |  Defuzz: Centroide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67528" y="2651760"/>
            <a:ext cx="3200400" cy="1097280"/>
          </a:xfrm>
          <a:prstGeom prst="rect">
            <a:avLst/>
          </a:prstGeom>
          <a:solidFill>
            <a:srgbClr val="EDF6F0"/>
          </a:solidFill>
          <a:ln w="12700">
            <a:solidFill>
              <a:srgbClr val="C8DD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Ventilador  [0 – 1]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58968" y="3127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Conjuntos: APAGADO  |  BAJO  |  ALTO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58968" y="3456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trimf  |  Defuzz: Centroide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67528" y="3611880"/>
            <a:ext cx="3200400" cy="11430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8968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FIS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8968" y="40050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FIS: Mamdani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58968" y="41513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× Salidas: 3 ×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58968" y="429768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IF-THEN: 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58968" y="44439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AND = mín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58968" y="4590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Agr. / Defuzz.: OR-máx / Centroide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Reglas  —  Tabla I del Paper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IF-THEN extraídas directamente de Elalami et al., IEEE 2019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70432"/>
            <a:ext cx="457200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70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1170432"/>
            <a:ext cx="2606040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70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(IF)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47872" y="1170432"/>
            <a:ext cx="1810512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17043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13248" y="1170432"/>
            <a:ext cx="3246120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704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(THEN)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536192"/>
            <a:ext cx="45720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554480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1536192"/>
            <a:ext cx="260604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554480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&gt; 20 ppm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47872" y="1536192"/>
            <a:ext cx="1810512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1554480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nitrogenado / T°&gt;70°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13248" y="1536192"/>
            <a:ext cx="324612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554480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rotación + Aireación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1888236"/>
            <a:ext cx="45720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906524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6112" y="1888236"/>
            <a:ext cx="260604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1906524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&gt; 65°C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47872" y="1888236"/>
            <a:ext cx="181051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1906524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activa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13248" y="1888236"/>
            <a:ext cx="324612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1906524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rotación + Aireación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2240280"/>
            <a:ext cx="45720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258568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6112" y="2240280"/>
            <a:ext cx="260604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2258568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20°C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47872" y="2240280"/>
            <a:ext cx="1810512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258568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nitrógeno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13248" y="2240280"/>
            <a:ext cx="324612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2258568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rotación + Aireación + Calefacción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2592324"/>
            <a:ext cx="45720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610612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6112" y="2592324"/>
            <a:ext cx="260604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2610612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&gt; 60%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47872" y="2592324"/>
            <a:ext cx="181051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2610612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humedad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13248" y="2592324"/>
            <a:ext cx="324612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9824" y="2610612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rotación + Aireación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2944368"/>
            <a:ext cx="45720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2962656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6112" y="2944368"/>
            <a:ext cx="260604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" y="2962656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&lt; 40%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547872" y="2944368"/>
            <a:ext cx="1810512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4448" y="2962656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agua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13248" y="2944368"/>
            <a:ext cx="324612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9824" y="2962656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manual: inyectar agua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84048" y="3296412"/>
            <a:ext cx="45720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3314700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96112" y="3296412"/>
            <a:ext cx="260604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" y="3314700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MEDIA + H MEDIA + NH₃ BAJO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547872" y="3296412"/>
            <a:ext cx="181051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4448" y="3314700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óptima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13248" y="3296412"/>
            <a:ext cx="324612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49824" y="3314700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reposo (APAGADO)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84048" y="3648456"/>
            <a:ext cx="45720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3666744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96112" y="3648456"/>
            <a:ext cx="260604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" y="3666744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MEDIA + H MEDIA + NH₃ MEDIO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547872" y="3648456"/>
            <a:ext cx="1810512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84448" y="3666744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moderada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413248" y="3648456"/>
            <a:ext cx="324612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49824" y="3666744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suave (LENTO/BAJO)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4048" y="4000500"/>
            <a:ext cx="45720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4018788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96112" y="4000500"/>
            <a:ext cx="260604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2688" y="4018788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BAJA + H BAJA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547872" y="4000500"/>
            <a:ext cx="181051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84448" y="4018788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déficit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13248" y="4000500"/>
            <a:ext cx="324612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49824" y="4018788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acción correctora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84048" y="4352544"/>
            <a:ext cx="45720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0624" y="4370832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96112" y="4352544"/>
            <a:ext cx="260604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2688" y="4370832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ALTA + NH₃ MEDIO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547872" y="4352544"/>
            <a:ext cx="1810512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84448" y="4370832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problema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13248" y="4352544"/>
            <a:ext cx="3246120" cy="342900"/>
          </a:xfrm>
          <a:prstGeom prst="rect">
            <a:avLst/>
          </a:prstGeom>
          <a:solidFill>
            <a:srgbClr val="EBF4EE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49824" y="4370832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rotación + Aireación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84048" y="4704588"/>
            <a:ext cx="45720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0624" y="4722876"/>
            <a:ext cx="38404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96112" y="4704588"/>
            <a:ext cx="260604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2688" y="4722876"/>
            <a:ext cx="25328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ALTA + NH₃ ALTO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547872" y="4704588"/>
            <a:ext cx="181051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584448" y="4722876"/>
            <a:ext cx="1737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alarma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413248" y="4704588"/>
            <a:ext cx="3246120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C5DCC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49824" y="4722876"/>
            <a:ext cx="3172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acción: Rotación + Aireación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384048" y="4892040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IF [Sensor] IS [Conjunto] AND ... THEN [Actuador] IS [Estado]  ·  Inferencia: Mamdani AND-mín  ·  Defuzz: Centroide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Validación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38912" y="960120"/>
            <a:ext cx="1965960" cy="14173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10241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8912" y="1691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 maduro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calidad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960120"/>
            <a:ext cx="1965960" cy="1417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0241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06040" y="1691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residuos/día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1965960" cy="1417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0241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kWh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73168" y="1691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0296" y="960120"/>
            <a:ext cx="1965960" cy="141732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0296" y="10241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Campo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40296" y="1691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8321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42032"/>
            <a:ext cx="64008" cy="2331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968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demostrados en el prototipo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2999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Telegestión completa vía app: control de rotación, tiempos, aireación, calefacción e inyección de agua.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3467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FIS Mamdani responde correctamente a los 8 escenarios de la Tabla I del paper.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6941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7 días en lazo cerrado con modelo ODE acoplado demuestra estabilidad del controlador.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0416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superados: sensores en tambor giratorio, NH₃/pH en tiempo real, comunicación inalámbrica robusta.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validado en campo en colaboración con empresa Biodome, Marruecos.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MATLAB FIS Plot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4632" y="7543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del sistema de inferencia Mamdani: 3 entradas (izquierda) conectadas a 3 salidas (derecha) a través del motor de inferencia central.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FIS Plot MATL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27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6F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Entradas (izquierda)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4632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variables de entrada con membresías trapezoidales (trapmf). Cada una con 3 conjuntos: BAJA, MEDIA, ALTA.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64408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C2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Motor Mamdani (centro)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37560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Caja central de inferencia: ejecuta AND-mín sobre antecedentes y MAX sobre consecuentes.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17336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Salidas (derecha)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0488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actuadores con membresías triangulares (trimf). Defuzzificación por centroide para obtener valor crisp.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MATLAB MF Editor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membresía de las 6 variables del sistema: fila superior = entradas (trapmf), fila inferior = salidas (trimf).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MF Editor MATL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83210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Azul — BAJA/BAJO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4632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membresía inferior. Trapmf con región plana izquierda.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64408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MEDIA/MEDIO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37560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Conjunto central con solapamiento a ambos lados.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17336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EE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EE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EE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ALTA/ALTO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0488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Conjunto superior. Trapmf con región plana derecha hacia el máximo.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MATLAB Superficies de Control 3D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 de respuesta del FIS: Humedad × Temperatura → Riego, Ventilación y Calefacción (Gases = 10 ppm fijo).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Superficies de control MATL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832104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C2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Riego (parula)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4632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Activo máximo cuando H &lt; 30% (baja). Se apaga progresivamente conforme sube la humedad.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64408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6F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Ventilación (cool)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37560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Alta cuando T &gt; 55°C o H &gt; 60%. Respuesta ante exceso térmico o amoniaco elevado.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17336" y="4453128"/>
            <a:ext cx="2724912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44622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Calefacción (autumn)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0488" y="46817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DD5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Máximo únicamente cuando T &lt; 20°C. Superficie tipo 'pico' localizado en esquina fría.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4731">
              <a:alpha val="6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40916C">
              <a:alpha val="45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74C6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64008" cy="8778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MIMO con Lógica Difusa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3×3 con 12 reglas IF-THEN, funciones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trapmf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trimf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inferencia AND-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OR-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defuzzificación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centroide,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r>
              <a:rPr lang="es-MX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050" dirty="0" err="1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04476"/>
            <a:ext cx="822960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B7E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84248"/>
            <a:ext cx="64008" cy="877824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39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significativa de residuos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39572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compostador automatizado puede reducir hasta 80% de residuos orgánicos diarios, produciendo compost maduro de alta calidad en solo 4 semanas.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822960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44368"/>
            <a:ext cx="64008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992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e IoT integrado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" y="33558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 + app smartphone permite monitoreo y control total 24/7 vía 4G/WiFi, con modos manual y automático, desde cualquier ubicación.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822960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74C6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04488"/>
            <a:ext cx="64008" cy="8778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959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validado en campo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" y="43159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exitosamente con empresa Biodome. Superó desafíos de instalación de sensores en tambor giratorio y comunicación inalámbrica robusta.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6070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Elalami et al., "Design and Test of the Smart Composter Controlled by Sensors," IEEE, 978-1-7281-5152-6/19, 2019.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82496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F.N. Alkoaik, "Integrating aeration and rotation processes to accelerate composting," PLOS ONE 14(7): e0220343, 2019.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0428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M.K. Awasthi et al., "Cocomposting of gelatin industry sludge with organic fraction of municipal solid waste," Bioresour. Technol., 2016.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B. Zang et al., "Effects of mix ratio, moisture content and aeration rate on sulfur odor emissions," Waste Manage, vol. 56, 2016.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478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F.Z. Beraich, M. Arouch, M. Bakasse. Patent MA 37240 A1, July 2016.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6350">
            <a:solidFill>
              <a:srgbClr val="DDEA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96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L.A. Zadeh, "Fuzzy sets," Information and Control, vol. 8, pp. 338–353, 1965.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Gutiérrez  ·  Cristóbal Valenzuela  ·  Vicente Apaza  ·  Benjamín Muñoz  ·  Universidad Andrés Bello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1601</Words>
  <Application>Microsoft Office PowerPoint</Application>
  <PresentationFormat>Presentación en pantalla (16:9)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Composter - Solemne 3</dc:title>
  <dc:subject>PptxGenJS Presentation</dc:subject>
  <dc:creator>PptxGenJS</dc:creator>
  <cp:lastModifiedBy>GUTIÉRREZ CARRASCO ROBERTO A</cp:lastModifiedBy>
  <cp:revision>5</cp:revision>
  <dcterms:created xsi:type="dcterms:W3CDTF">2026-05-25T05:34:43Z</dcterms:created>
  <dcterms:modified xsi:type="dcterms:W3CDTF">2026-05-27T01:15:00Z</dcterms:modified>
</cp:coreProperties>
</file>